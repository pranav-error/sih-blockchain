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709"/>
  </p:normalViewPr>
  <p:slideViewPr>
    <p:cSldViewPr snapToGrid="0" snapToObjects="1">
      <p:cViewPr varScale="1">
        <p:scale>
          <a:sx n="99" d="100"/>
          <a:sy n="99" d="100"/>
        </p:scale>
        <p:origin x="19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406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HERB-VAULT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A5D6A7"/>
                </a:solidFill>
              </a:rPr>
              <a:t>Blockchain-Based Ayurvedic Herb Traceability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3200400" cy="4754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218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📜  PATENT APPLIED — Indian Patent 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CMTI Design &amp; Innovation Clinic 2026  |  April 16–18, Bengaluru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7315200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 Sai Pranav  |  CSE  —  Software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480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Kartik Jarali  |  CSE  — 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3036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Harshal Y Kumar  |  Mechatronics  —  Hardware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23036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Karanam Nayan  |  Mechatronics  — 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</a:rPr>
              <a:t>INDUSTRY INTEREST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Himalaya Drug Company
has evaluated and expressed
commercial interest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834640"/>
            <a:ext cx="3200400" cy="4754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898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Software Architecture: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56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5D6A7"/>
                </a:solidFill>
              </a:rPr>
              <a:t>sih-blockchain.vercel.app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Hyperledger Fabric
Blockchain Network
Designed &amp; Tested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Real Crisis — Billions Lost, Trust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828800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185" y="1089469"/>
            <a:ext cx="2011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₹15,000 Cr+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FFFFFF"/>
                </a:solidFill>
              </a:rPr>
              <a:t>Annual export revenue
LOST to fraud &amp; rejections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005840"/>
            <a:ext cx="1828800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107899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47+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EU/US border rejections
of Indian herbs (2023 alone)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05840"/>
            <a:ext cx="1828800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07899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Ayurvedic products FAIL
FSSAI quality 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005840"/>
            <a:ext cx="1828800" cy="1508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07899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Herbs in Indian market
adulterated or mislabeled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05840"/>
            <a:ext cx="1828800" cy="1508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07899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Urban consumers DON'T
trust herbal product labels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1005840"/>
            <a:ext cx="1828800" cy="15087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95560" y="107899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3–5×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1691640"/>
            <a:ext cx="1719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Farm gate vs. shelf price
gap due to middlemen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566928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2651760"/>
            <a:ext cx="566928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🇪🇺  WHY EU &amp; US REJECT INDIAN HERBS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12724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Pesticide residues above MRL limits — no field record to prove safe practices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54787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Microbial contamination (Salmonella, E.coli) — no temperature/handling chain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6849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Incorrect species labeling — Brahmi sold as Gotu Kola, no DNA-verifiable 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38912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Falsified certificates of origin — paper-based, easy to forge without blockchain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09744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Heavy metal contamination — no soil/zone restriction at point of 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23036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⚠  Result: India loses ₹15,000 Cr+ annually in rejected herb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650992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</a:rPr>
              <a:t>•  EU RASFF portal: 47+ rapid alerts for Indian spices &amp; herbs in 2022–23 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07161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</a:rPr>
              <a:t>•  Germany, Netherlands, UK are top rejection origin countries for Indian herbs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651760"/>
            <a:ext cx="576072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2651760"/>
            <a:ext cx="576072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26974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WHY CONSUMERS DON'T TRUST HERBAL MEDICINES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2724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"How do I know this is real Ashwagandha?" — no way to verify at point of purchase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54787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Multiple fake product scandals: turmeric with lead chromate, curcumin substitution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96849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No visibility into where herbs were grown, by whom, or under what 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3891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No lab test results accessible to the buyer — they must trust the brand blindly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809744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Global trend: 72% of consumers pay 15–20% premium for traceable products (Nielsen 2023)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23036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 Coffee (Rainforest Alliance QR), wine (blockchain provenance) — premium pricing proven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65099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★  When a consumer SEES the complete journey, credibility of the product becomes unquestionable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07161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★  With HERB-Vault QR: farm → collector ID → GPS zone → grade → lab →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QR Traceability Rebuilds Consumer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5D6A7"/>
                </a:solidFill>
              </a:rPr>
              <a:t>Scan once — see everything. Farm to pharmacy, immutably on blockchain.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1288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THE QR JOURNEY — What a consumer sees when they scan the product QR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27432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84708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📍 COLLECTION
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06040"/>
            <a:ext cx="2578608" cy="18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269748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Ashwagandha
Collected: 14 Apr 2026
Location: Nagaur, Rajasthan
GPS: 27.2°N 73.7°E
GPS ZONE: ✓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07408"/>
            <a:ext cx="257860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" y="448056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Collector: COL-Ramesh
Weight: 12.4 kg
Moisture: 10.8%
Grade: A (Premium)
Blockchain TX: 3f9a2b...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3840480"/>
            <a:ext cx="109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2968" y="1783080"/>
            <a:ext cx="2743200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64408" y="184708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🏭 PROCESSING
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4408" y="2606040"/>
            <a:ext cx="2578608" cy="18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82696" y="269748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Facility: Herbal Pro
Pune, Maharashtra
Process: Sun Drying
Duration: 72 hours
Date: 18 Apr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4407408"/>
            <a:ext cx="257860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448056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Operator: Suresh K
Input: 12.4 kg
Output: 9.8 kg
Loss (normal): 21%
Blockchain TX: 8c1d4e...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3840480"/>
            <a:ext cx="109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5896" y="1783080"/>
            <a:ext cx="2743200" cy="4480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17336" y="184708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🧪 QUALITY
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2606040"/>
            <a:ext cx="2578608" cy="18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35624" y="269748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Lab: NABL Certified
Test Date: 22 Apr 2026
Moisture: 9.2% ✓
Pesticide: PASS ✓
Heavy Metals: PASS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4407408"/>
            <a:ext cx="257860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35624" y="448056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Microbial: PASS ✓
Withanolides: 2.5%
EU MRL: COMPLIANT
US FDA: COMPLIANT
Blockchain TX: 2e7f9c...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840480"/>
            <a:ext cx="109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8824" y="1783080"/>
            <a:ext cx="2743200" cy="44805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70264" y="1847088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💊 FINAL
PRODUCT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0264" y="2606040"/>
            <a:ext cx="2578608" cy="18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88552" y="269748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Himalaya Ashwagandha
Capsules 500mg
Batch: HIM-ASH-2026-042
Mfg: 25 Apr 2026
Exp: Apr 2028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70264" y="4407408"/>
            <a:ext cx="257860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88552" y="4480560"/>
            <a:ext cx="25420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Certifications:
• AYUSH GMP
• ISO 22000
• EU Organic
Blockchain TX: 1a4b5c...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★  Every field above is immutable on Hyperledger Fabric blockchain — no one can alter it after submission.  The consumer isn't trusting a brand. They're reading a cryptographic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Market Opportunity &amp; 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4864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4864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691640" cy="5943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₹50,000 Cr+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642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India Ayurvedic domestic market (2024)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21992"/>
            <a:ext cx="169164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313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8.5%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377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Annual growth rate through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35224"/>
            <a:ext cx="169164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02666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₹15,000 Cr+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0906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Export potential by 2030 (AYUSH target)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48456"/>
            <a:ext cx="169164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7398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$150 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8039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Global herbal supplement market by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61688"/>
            <a:ext cx="169164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453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2.5 Lakh+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5171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Licensed Ayurvedic manufacturers in India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69164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5166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 Cr+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303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Farming families in medicinal herb supply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88152"/>
            <a:ext cx="169164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58795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₹15,000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43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Annual losses from fraud &amp; rejections (TAM)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Who needs HERB-Vault: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29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Herb farmers  •  Aggregators  •  Processors  •  Quality labs
Himalaya, Dabur, Patanjali  •  AYUSH / FSSAI  •  EU importers  •  Consumers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005840"/>
            <a:ext cx="59436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1005840"/>
            <a:ext cx="59436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0" y="1051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1481328"/>
            <a:ext cx="5833872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25896" y="1508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7536" y="1508760"/>
            <a:ext cx="704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GPS
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1508760"/>
            <a:ext cx="704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Block-
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1508760"/>
            <a:ext cx="704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Grade
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1508760"/>
            <a:ext cx="795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EU
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8208" y="15087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Consumer
QR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1938528"/>
            <a:ext cx="58338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25896" y="2121408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Paper Records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212140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12140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152" y="212140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2121408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08208" y="2121408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651760"/>
            <a:ext cx="58338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25896" y="2834640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Generic ERP (SAP/Tally)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7536" y="2834640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7344" y="2834640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152" y="2834640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2834640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2834640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3364992"/>
            <a:ext cx="58338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25896" y="3547872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AgriChain / TraceX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7536" y="3547872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3547872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A825"/>
                </a:solidFill>
              </a:rPr>
              <a:t>Partial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3547872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60" y="3547872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08208" y="3547872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4078224"/>
            <a:ext cx="58338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25896" y="42611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QR-Label solutions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7536" y="4261104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261104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17152" y="4261104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4261104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08208" y="4261104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4791456"/>
            <a:ext cx="583387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25896" y="4974336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IBM Food Trust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17536" y="4974336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4974336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7152" y="4974336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4974336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</a:rP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08208" y="4974336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A825"/>
                </a:solidFill>
              </a:rPr>
              <a:t>Partial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5504688"/>
            <a:ext cx="5833872" cy="676656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25896" y="5687568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</a:rPr>
              <a:t>HERB-VAULT  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17536" y="568756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7344" y="568756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17152" y="5687568"/>
            <a:ext cx="694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66960" y="5687568"/>
            <a:ext cx="786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08208" y="5687568"/>
            <a:ext cx="905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89320" y="635508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</a:rPr>
              <a:t>★  HERB-Vault is the ONLY solution with GPS zone enforcement on blockchain AND EU compliance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HERB-Vault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B5E20"/>
                </a:solidFill>
              </a:rPr>
              <a:t>One device + one platform = tamper-proof herb certification from the moment of collection.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417320"/>
            <a:ext cx="224028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🌐 Blockchain
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40280"/>
            <a:ext cx="20756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33172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Hyperledger Fabric — permissioned,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88036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enterprise-grade blockchain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290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Every herb batch gets a permanent,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9776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immutable record across 2 orgs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52628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 single party controls the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417320"/>
            <a:ext cx="2240280" cy="3931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80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📍 GPS Zone
Validation (Patent)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240280"/>
            <a:ext cx="20756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80" y="233172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Collection GPS validated INSIDE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88036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the smart contract — not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4290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Haversine formula on-chain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9776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Fake location = blockchain rejects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52628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Patent applied at Indian Patent Office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1417320"/>
            <a:ext cx="2240280" cy="3931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Field
Collector Device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0912" y="2240280"/>
            <a:ext cx="20756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10912" y="233172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ESP32-S3 reads weight + moisture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288036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Neo-6M captures live GPS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4290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Trained collector selects A/B/C 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9776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OLED shows result in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52628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 smartphone needed in the 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32904" y="1417320"/>
            <a:ext cx="2240280" cy="3931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24344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📊 Full
Supply Chain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4344" y="2240280"/>
            <a:ext cx="20756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24344" y="233172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Processing facility logs on mobile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288036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Quality lab submits test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24344" y="34290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Manufacturer links batch to 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4344" y="39776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Consumer scans QR — sees everything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344" y="452628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Himalaya audits entire 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46336" y="1417320"/>
            <a:ext cx="2240280" cy="3931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37776" y="1481328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🇪🇺 Export
Compliance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2240280"/>
            <a:ext cx="20756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37776" y="233172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GPS zone + lab test records on 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7776" y="288036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EU RASFF-ready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7776" y="34290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FSSAI, AYUSH, EU GACP aligned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7776" y="39776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Pesticide &amp; contaminant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452628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Eliminates rejection root causes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486400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532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WHY THIS 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897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• Farmer cannot be cheated — weight and grade are locked to their identity on blockchain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• Middlemen cannot change grades — it's on-chain before they touch the batch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• Pharma company (Himalaya) gets cryptographic proof of source — no paper trust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• Consumer scans QR and sees the complete journey — credibility becomes unquestionable</a:t>
            </a:r>
          </a:p>
          <a:p>
            <a:pPr algn="l"/>
            <a:r>
              <a:rPr sz="1000" b="0">
                <a:solidFill>
                  <a:srgbClr val="1A1A1A"/>
                </a:solidFill>
              </a:rPr>
              <a:t>• Regulators get automated audit trail — no manual inspection of paper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Complete System Workflow — Pin to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24128"/>
            <a:ext cx="1389888" cy="2377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4088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COLLECTION
(Farm/Forest)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Collector places
herb batch on
device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Hardware
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5628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82496" y="1024128"/>
            <a:ext cx="1389888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85416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60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SENSOR READ
(Automatic)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6504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Weight via HX711
Moisture %
GPS coordinates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28216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46504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IoT Sensors
Auto-capture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6956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3824" y="1024128"/>
            <a:ext cx="1389888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66744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75888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GRADE INPUT
(Collector)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7832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Trained collector
inspects visually
Presses A / B / 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9544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27832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3 Buttons
On Device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8284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024128"/>
            <a:ext cx="1389888" cy="2377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48072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57216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GPS VALIDATE
(Patent)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Haversine check
runs INSIDE the
smart contract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0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Blockchain
On-Chain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9612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024128"/>
            <a:ext cx="1389888" cy="2377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29400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38544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BLOCKCHAIN
WRITE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Immutable record:
weight+moisture
+grade+GPS+ID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90488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Hyperledger
Fabric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0940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7808" y="1024128"/>
            <a:ext cx="1389888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10728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2672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PROCESSING
&amp; QA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1816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Worker logs steps
Lab submits tests
via Mobile App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53528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71816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React Native
Offline-First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2268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89136" y="1024128"/>
            <a:ext cx="1389888" cy="2377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592056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0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FINAL
PRODUCT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53144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Pharma links batch
to product, QR
code generated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34856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153144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Web Dashboard
Vercel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83596" y="189280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70464" y="1024128"/>
            <a:ext cx="1389888" cy="2377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073384" y="76809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082528" y="777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25328" y="1097280"/>
            <a:ext cx="1298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CONSUMER
VERIFY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34472" y="1801368"/>
            <a:ext cx="1298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Scan QR on phone
See full history
Trust verified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16184" y="2852928"/>
            <a:ext cx="1316736" cy="4754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634472" y="2871216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A825"/>
                </a:solidFill>
              </a:rPr>
              <a:t>Public QR
Trace Page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566160"/>
            <a:ext cx="11612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74320" y="3566160"/>
            <a:ext cx="1161288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3611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STAKEHOLDER ROLE MAP — Who Uses Which Tool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041648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0965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🌾 Herb Collector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4256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Hardware Device
(ESP32 + sensors + grade buttons)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Submits: weight, moisture, GPS, grade
No smartphone required in field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0" y="4041648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43400" y="40965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🏭 Processing Worker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43400" y="44256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Mobile App
(Android/iOS, offline-first)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4340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Logs: drying, grinding, storage
Works without internet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79754" y="4058519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71194" y="411338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🧪 Quality Lab Tech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71194" y="444256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Mobile App
(Same app, different role)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71194" y="47717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</a:rPr>
              <a:t>Submits: moisture %, pesticide, microbial
NABL-certified results on chain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5230368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2920" y="528523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💊 Pharma (Himalaya)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56144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Web Dashboard
(sih-blockchain.vercel.app)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5943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Views: full audit trail, analytics
Export compliance reports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51960" y="5296694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343400" y="535155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👤 Consumer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43400" y="568074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QR Code Scan
(Any phone, no install)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43400" y="600992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Sees: complete journey farm→shelf
Builds product credibility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79754" y="5247239"/>
            <a:ext cx="3657600" cy="111556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171194" y="530210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🏛 AYUSH / FSSAI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71194" y="56312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Web Dashboard
(Regulator access)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71194" y="596047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Views: compliance reports
Audit trail for certification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Hardware Device — Field Collector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5D6A7"/>
                </a:solidFill>
              </a:rPr>
              <a:t>No smartphone. No app. No internet dependency. Just the device.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035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8760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819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ESP32-S3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60020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Main controller — WiFi, processing, API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66544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969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Neo-6M GPS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15798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Live GPS coordinates — location proof (UART)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24328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697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HX711 + Load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271576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Weighs herb batch accurately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82112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5526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Moisture 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32735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Reads moisture % of herbs (analog pin)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39896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130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OLED Display 0.96"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3831336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Shows grade, batch ID, status to collector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7680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3708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3 Grade Buttons A/B/C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438912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Collector presses after visual inspection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855464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9286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Green + Red LEDs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94690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Instant accepted / rejected visual feedback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413248"/>
            <a:ext cx="1645920" cy="4754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Power Bank (USB-C)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76272" y="55046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Portable power — works in remote fields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1005840"/>
            <a:ext cx="61264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60720" y="1005840"/>
            <a:ext cx="61264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97880" y="1051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COLLECTOR STEP-BY-STEP WORKFLOW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15087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07024" y="15636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15727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Place herb batch on device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19659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07024" y="20208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20299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HX711 auto-reads weight in grams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24231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07024" y="24780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2487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Moisture sensor auto-reads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97880" y="28803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07024" y="29352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944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Neo-6M captures live GPS coordinates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33375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07024" y="3392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34015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Collector visually inspects herb quality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97880" y="37947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07024" y="38496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8587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Collector presses  [A]  [B]  or  [C]  grade button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42519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07024" y="43068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3159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ESP32 sends all data to POST /api/intake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47091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07024" y="47640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4773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Backend validates GPS zone (patent feature)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51663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07024" y="52212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If valid: blockchain record written + batch 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97880" y="56235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07024" y="56784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56875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OLED: ACCEPTED  |  Grade A  |  Batch 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97880" y="60807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07024" y="61356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61447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Green LED on — collector hands batch forward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97880" y="6537960"/>
            <a:ext cx="347472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907024" y="659282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66019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If rejected: Red LED + OLED shows reason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5120640"/>
            <a:ext cx="2606040" cy="1417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07424" y="5230368"/>
            <a:ext cx="2395728" cy="1188720"/>
          </a:xfrm>
          <a:prstGeom prst="rect">
            <a:avLst/>
          </a:prstGeom>
          <a:solidFill>
            <a:srgbClr val="040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25712" y="5276088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88"/>
                </a:solidFill>
              </a:rPr>
              <a:t>✓ ACCEPTED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25712" y="5577840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A825"/>
                </a:solidFill>
              </a:rPr>
              <a:t>Grade: A  (Premium)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25712" y="5833872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ASH-A-20260416-3F9A2B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6437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</a:rPr>
              <a:t>OLED Display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Patent Applied — The Core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1288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5E20"/>
                </a:solidFill>
              </a:rPr>
              <a:t>📜  PATENT APPLICATION FILED — Indian Patent Office  |  Innovation: GPS Zone Validation Executed Inside Blockchain Smart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C62828"/>
                </a:solidFill>
              </a:rPr>
              <a:t>Important: The patent protects the METHOD and INNOVATION — not the prototype.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 idea of performing Haversine GPS validation as a smart contract transaction is patent-protected regardless of the hardware used.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33472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539496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670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THE PATENT PROTECTS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8211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316382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Collection GPS validated INSIDE the smart contract, not the application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8503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36667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01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Haversine formula calculates great-circle distance within chaincode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8795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416966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If collector is outside approved zone → blockchain REJECTS at consensus 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9087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" y="467258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360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 backend bypass possible — all network nodes enforce the rule simultaneously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9379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" y="517550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389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Each herb species has species-specific approved zones encoded in the contract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69671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624" y="567842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4184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Collector identity, GPS proof, and grade are cryptographically linked in one TX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99632"/>
            <a:ext cx="237744" cy="23774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618134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447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First known on-chain geospatial herb zone enforcement in permissioned blockchain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633472"/>
            <a:ext cx="5943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0" y="2633472"/>
            <a:ext cx="5943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267004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BLOCKCHAIN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0906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Platform: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09067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Hyperledger Fabric 2.4.x — enterprise permissioned blockchain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529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Channel: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52958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herblock — dedicated Ayurvedic herb supply chain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9684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Orgs: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96849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Org1MSP (Govt/Regulator) + Org2MSP (Industry) — both must endorse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4074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Consensus: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40740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Raft (Crash Fault Tolerant) — no single point of failure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8463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Chaincode: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84632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Node.js — GPS Haversine validation executes here (patent)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2852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World State: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28523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CouchDB — queryable ledger state + MongoDB app cache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5724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Security: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572414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TLS 1.3 on all peer communication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61630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Hashing: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61630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SHA-256 fingerprint per record + Merkle root per batch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660196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Immutability: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660196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 record can be altered after commitment — by anyone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660196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9A825"/>
                </a:solidFill>
              </a:rPr>
              <a:t>No competitor can replicate this — the patent protection covers the method, not just the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Software Architecture — Designed &amp;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5D6A7"/>
                </a:solidFill>
              </a:rPr>
              <a:t>The full platform is architected, built, and tested. CMTI is where hardware meets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12880" cy="5943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60704"/>
            <a:ext cx="11247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B5E20"/>
                </a:solidFill>
              </a:rPr>
              <a:t>We did not bring a ready-made product. We built the software architecture so the hardware team has a working platform to integrate with — from day one of the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11612880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792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CLIENT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React 19 Web Dashboard — sih-blockchain.vercel.app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React Native Mobile App — Android/iOS, offline-first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Public QR Trace Page — no install, any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0428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Hardware Device UI — OLED + LEDs on ESP32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99232"/>
            <a:ext cx="11612880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0723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0896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FastAPI (Python) — REST endpoints for all supply chain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POST /api/intake — hardware device endpoint (built for CMTI)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5844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JWT + Google OAuth2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8444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GPS zone validation, QR generation, analytics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79392"/>
            <a:ext cx="11612880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BLOCKCHAIN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8912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Hyperledger Fabric 2.4.x — herblock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8912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Node.js Chaincode — GPS Haversine validation (patent applied)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86460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2 Orgs (Govt + Industry) — Raft consensus endorsement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6460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Immutable records: CollectionEvent, ProcessingStep, QualityTest, Product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59552"/>
            <a:ext cx="11612880" cy="1143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5632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66928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MongoDB — application data (fast queries, analytics)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6928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CouchDB — Fabric world state (blockchain ledger state)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614476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Expo SQLite — mobile offline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14476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SHA-256 hash chain + Merkle root per 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9077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187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6811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6393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 dirty="0">
                <a:solidFill>
                  <a:srgbClr val="F9A825"/>
                </a:solidFill>
              </a:rPr>
              <a:t>← Hardware device connects here via POST /</a:t>
            </a:r>
            <a:r>
              <a:rPr sz="900" b="1" i="1" dirty="0" err="1">
                <a:solidFill>
                  <a:srgbClr val="F9A825"/>
                </a:solidFill>
              </a:rPr>
              <a:t>api</a:t>
            </a:r>
            <a:r>
              <a:rPr sz="900" b="1" i="1" dirty="0">
                <a:solidFill>
                  <a:srgbClr val="F9A825"/>
                </a:solidFill>
              </a:rPr>
              <a:t>/intake with X-Device-Key 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We Are Building at CMTI — April 16–18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4864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48640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SOFTWARE ARCHITECTURE  (came in with this)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This is our platform — like a startup's app before it launches.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Hyperledger Fabric blockchain network — 2 orgs, 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3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Node.js chaincode with on-chain GPS validation (patent applied)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5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FastAPI backend — all supply chain REST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POST /api/intake endpoint — ready for hardware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19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React 19 web dashboard — live on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1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React Native mobile app — offline-first, SQLite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3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JWT + Google OAuth2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5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QR code generation + consumer trace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9787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Analytics dashboard with real-time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005840"/>
            <a:ext cx="5943600" cy="5577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0" y="1005840"/>
            <a:ext cx="594360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051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🔧  BUILDING HERE  (hardware — the last mile)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4630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B5E20"/>
                </a:solidFill>
              </a:rPr>
              <a:t>This is what completes the product. Built from scratch at CMTI.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87451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9904" y="18653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87451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ESP32-S3 firmware — written from scratch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37743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9904" y="236829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37743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HX711 load cell wiring + weight calibration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88035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287121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88035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Moisture sensor wiring + analog reading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38327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9904" y="337413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38327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Neo-6M GPS module integration + live satellite fix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88619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9904" y="387705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388619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3-button grade selection logic (A / B / 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38911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9904" y="437997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38911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OLED display output — grade + batch ID +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89203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89904" y="488289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89203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Green / Red LED feedback circuit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539495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9904" y="538581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39495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WiFi connection + HTTP POST to /api/intake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5897879"/>
            <a:ext cx="27432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89904" y="588873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5897879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End-to-end: device → API → blockchain → dashboard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6400800"/>
            <a:ext cx="59436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0760" y="64373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A825"/>
                </a:solidFill>
              </a:rPr>
              <a:t>The hardware + firmware integration IS the build. It happens here,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A9D3512-5B30-79C7-BD61-5EA66EB6D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441"/>
          <a:stretch>
            <a:fillRect/>
          </a:stretch>
        </p:blipFill>
        <p:spPr>
          <a:xfrm>
            <a:off x="1" y="0"/>
            <a:ext cx="12188824" cy="641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0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Business Model &amp; Industry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12880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607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5E20"/>
                </a:solidFill>
              </a:rPr>
              <a:t>🏆  HIMALAYA DRUG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078992"/>
            <a:ext cx="7680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Evaluated HERB-Vault and expressed commercial interest.
Request: "Show us working hardware."  —  That is exactly what we are building at CMTI.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1161288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REVENUE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542032"/>
            <a:ext cx="26517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694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Device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4436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</a:rPr>
              <a:t>₹8,000–15,000
per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Hardware device sold to
cooperatives / pharma 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54203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2542032"/>
            <a:ext cx="26517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5694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SaaS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94436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</a:rPr>
              <a:t>₹2,000–5,000
/month/org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204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Web + API access for
manufacturers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54203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2542032"/>
            <a:ext cx="26517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5694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Per-TX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4436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</a:rPr>
              <a:t>₹2–5
per batch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204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Blockchain write fee
charged to processor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54203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69680" y="2542032"/>
            <a:ext cx="26517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25694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Compliance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94436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</a:rPr>
              <a:t>₹50K–2L/year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520440"/>
            <a:ext cx="2468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Harvest &amp; audit reports
for AYUSH/exporters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4251960"/>
            <a:ext cx="54864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2885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GO-TO-MARKET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0001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→  Phase 1 (Now):   Pilot — 10 collectors, 1 herb zone, with Himalaya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389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→  Phase 2 (6 mo):  5 herb species, 3 processors, mobile app 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→  Phase 3 (1 yr):  License platform to Dabur, Patanjali, export labs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167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→  Phase 4 (2 yr):  EU/US compliance module — capture export market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251960"/>
            <a:ext cx="5943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4251960"/>
            <a:ext cx="594360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428853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HERB-VAULT WINS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70001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Only blockchain + hardware integration targeting Ayurveda sector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04748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Patent applied — GPS on-chain method cannot be copied legally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3949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Solves EU rejection root cause — verifiable audit trail from farm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7424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Consumer QR trust — credibility built by transparency, not branding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08990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Himalaya validation — real commercial interest, not hypothetical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643737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★  ₹50,000 Cr market + ₹15,000 Cr annual loss = proven, measurable need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Live Demo — What Judges Will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82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024128"/>
            <a:ext cx="1389888" cy="2423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Place herb
sample on
device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Collector places a
bag of herbs on
the load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5628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2496" y="1024128"/>
            <a:ext cx="1389888" cy="2423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2496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Sensors
auto-capture
readings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504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Weight: HX711
Moisture: sensor
GPS: Neo-6M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6956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3824" y="1024128"/>
            <a:ext cx="1389888" cy="2423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63824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18688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Collector
selects grade
A / B /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Visual inspection
Press grade button
on the 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8284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5152" y="1024128"/>
            <a:ext cx="1389888" cy="24231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45152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0016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ESP32 POSTs
to /api/intake
+ Device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JSON: weight +
moisture + GPS
+ grade 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9612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24128"/>
            <a:ext cx="1389888" cy="2423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81344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GPS validated
ON blockchain
(patent live)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Haversine runs
inside chaincode
Not our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0940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07808" y="1024128"/>
            <a:ext cx="1389888" cy="2423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607808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62672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OLED + LED
feedback to
collector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1816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ACCEPTED
Grade: A
Batch ID shown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2268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9136" y="1024128"/>
            <a:ext cx="1389888" cy="2423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89136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
updates in
real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New blockchain
record appears
Open the laptop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3596" y="17373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70464" y="1024128"/>
            <a:ext cx="1389888" cy="2423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570464" y="1024128"/>
            <a:ext cx="1389888" cy="3474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25328" y="1060704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A825"/>
                </a:solidFill>
              </a:rPr>
              <a:t>STEP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141732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Consumer
scans QR
on phone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34472" y="2176272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Full journey:
farm → lab → shelf
Trust verified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611880"/>
            <a:ext cx="11612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74320" y="3611880"/>
            <a:ext cx="1161288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364845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JUDGE Q&amp;A — EXPECTED QUESTIONS &amp; ANSWERS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069080"/>
            <a:ext cx="5577840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4123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Q: Isn't this already built?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44531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A: The software architecture is ready — like a startup's platform before launch. The hardware device and its full firmware integration is being built live here at CMTI.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069080"/>
            <a:ext cx="5577840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3640" y="4123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Q: How is this different from a QR label?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4531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A: A QR label is a sticker. HERB-Vault is a cryptographic proof. The GPS, weight, grade and collector identity are on a tamper-proof blockchain — no one can change it.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212080"/>
            <a:ext cx="5577840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" y="5266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Q: Can someone fake the GPS?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55961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A: The GPS validation runs inside the Hyperledger Fabric smart contract — not our server. All network nodes enforce it simultaneously. This is the patent. It cannot be bypassed.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5212080"/>
            <a:ext cx="5577840" cy="1078992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63640" y="5266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Q: Who will pay for this?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55961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A: Himalaya Drug Company has already shown interest. They pay for supply chain certification today via paper — we replace that with a ₹2–5 per batch blockchain record.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🌿  HERB-VAULT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5D6A7"/>
                </a:solidFill>
              </a:rPr>
              <a:t>From Farm to Pharmacy — Trustless, Transparent, Traceable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194560" cy="1828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PATENT
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80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20"/>
                </a:solidFill>
              </a:rPr>
              <a:t>GPS On-Chain Validation
Indian Patent Office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103120"/>
            <a:ext cx="2194560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221284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HIMALAYA
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880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20"/>
                </a:solidFill>
              </a:rPr>
              <a:t>Commercial interest expressed
Awaiting hardware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103120"/>
            <a:ext cx="2194560" cy="1828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13248" y="221284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5E20"/>
                </a:solidFill>
              </a:rPr>
              <a:t>₹15,000 Cr
ANNUAL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880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20"/>
                </a:solidFill>
              </a:rPr>
              <a:t>To fraud &amp; rejections
We solve the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The Ayurvedic herb supply chain loses ₹15,000 Cr annually
because there is no verifiable record at point of collection.
HERB-Vault is the only solution that enforces authenticity
with patented on-chain GPS validation — backed by hardware.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</a:rPr>
              <a:t>Software Architecture: READY  |  Patent: APPLIED  |  Industry: INTERESTED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</a:rPr>
              <a:t>github.com/Pranav-error/SIH-blockchain  |  REVA University  |  CMTI DIC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0972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9A825"/>
                </a:solidFill>
              </a:rPr>
              <a:t>WHAT WE'RE
BUILDING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ESP32-S3 firmware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87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HX711 weight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62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Moisture sensor 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38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Neo-6M GPS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136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A/B/C grade button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3891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OLED display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646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Full API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3400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★  End-to-end demo loop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 — Complete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645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</a:rPr>
              <a:t>🌿 HERB-VAULT  |  CMTI DIC 2026  |  REVA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33375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333756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978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FIELD DEVICE  (ESP32-S3)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447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Weight sensor (HX711 + load cell)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1965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1965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Moisture % (capacitive sensor)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9456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194560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GPS coordinates (Neo-6M module)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6946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69464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Collector presses Grade  A / B /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94436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944368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Device authenticates with API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31927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319272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OLED: ACCEPTED / REJECTED + Batch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9417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🟢🔴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694176"/>
            <a:ext cx="2862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Green LED (accept)  |  Red LED (reject)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057400"/>
            <a:ext cx="5669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B5E20"/>
                </a:solidFill>
              </a:rPr>
              <a:t>POST /api/intake
+ X-Device-Key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914400"/>
            <a:ext cx="3703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60520" y="914400"/>
            <a:ext cx="370332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978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BACKEND  (FastAPI + MongoDB)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1444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1444752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Validate Device API Key  →  db.devices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177850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1778508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GPS Geo-Fence (Haversine)  ★ PATENT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211226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2112264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Harvest Season (NMPB calendar)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4460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244602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Compute Grade from collector 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277977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2779776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Generate Batch ID  ASH-A-YYYYMMDD-XXXX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11353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3113532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Store event in MongoDB  (collection_events)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44728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3447288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Invoke Fabric chaincode  (recordCollection)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7810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3781044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Generate QR code  (base64 PNG)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2103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65C0"/>
                </a:solidFill>
              </a:rPr>
              <a:t>peer chaincode
invoke (CLI)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2677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914400"/>
            <a:ext cx="34747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458200" y="914400"/>
            <a:ext cx="3474720" cy="438912"/>
          </a:xfrm>
          <a:prstGeom prst="rect">
            <a:avLst/>
          </a:prstGeom>
          <a:solidFill>
            <a:srgbClr val="7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49640" y="9784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825"/>
                </a:solidFill>
              </a:rPr>
              <a:t>③ HYPERLEDGER FABRIC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1444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⛓️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2248" y="144475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Channel: herblock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177850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🏛️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42248" y="177850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Org1MSP  —  Government node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211226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2248" y="2112264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Org2MSP  —  Industry node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244602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✍️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2248" y="2446020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Both orgs must endorse TX (consensus)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2779776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42248" y="277977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Chaincode: recordCollection (Node.js)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311353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2248" y="311353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</a:rPr>
              <a:t>GPS Haversine runs INSIDE chaincode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3447288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2248" y="344728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SHA-256 hash  →  immutable record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37810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2248" y="3781044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Raft ordering  |  CouchDB world state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160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</a:rPr>
              <a:t>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4041648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5E20"/>
                </a:solidFill>
              </a:rPr>
              <a:t>batch_id
+ QR code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4590288"/>
            <a:ext cx="333756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8600" y="4590288"/>
            <a:ext cx="3337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4645152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④ WEB / MOBILE 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" y="5047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→  React 19 web  +  React Native mobile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5340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→  Consumer scans QR code with phone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5632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→  GET /api/trace/{batch_id}  →  backend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5925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→  Full journey: Farm → Lab → Shelf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04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→  Displays GPS map + grade + lab results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84448" y="509320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565C0"/>
                </a:solidFill>
              </a:rPr>
              <a:t>GET /api/trace
/{batch_id}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5615" y="53400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</a:rPr>
              <a:t>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60520" y="4590288"/>
            <a:ext cx="37033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160520" y="4590288"/>
            <a:ext cx="37033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51960" y="464515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⑤ DATA STORE  (MongoDB)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51960" y="504748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</a:rPr>
              <a:t>collection_events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5047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Raw intake: weight, GPS, grade, hash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60" y="5340096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</a:rPr>
              <a:t>processing_steps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53400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Processing stages from mobile app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1960" y="563270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</a:rPr>
              <a:t>quality_tests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0" y="5632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Lab test results (QA mobile screen)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1960" y="592531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</a:rPr>
              <a:t>products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0" y="5925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Final product + QR code link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51960" y="62179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65C0"/>
                </a:solidFill>
              </a:rPr>
              <a:t>blockchain_txns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6217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Fabric TX id + block number log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06440" y="4160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</a:rPr>
              <a:t>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58200" y="4590288"/>
            <a:ext cx="347472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458200" y="4590288"/>
            <a:ext cx="3474720" cy="365760"/>
          </a:xfrm>
          <a:prstGeom prst="rect">
            <a:avLst/>
          </a:prstGeom>
          <a:solidFill>
            <a:srgbClr val="7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549640" y="46451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</a:rPr>
              <a:t>⑥ CONSUMER TRUST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0474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 Batch ID  →  collection GPS verified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53400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 Collector ID + Grade (A/B/C) visible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49640" y="56327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 Processing plant + date stamp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9640" y="5925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 Lab quality test results on-chain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49640" y="6217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✓  Zero trust required — blockchain proof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65008" y="53400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</a:rPr>
              <a:t>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36992" y="5093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QR scan
result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60520" y="1801368"/>
            <a:ext cx="1508760" cy="329184"/>
          </a:xfrm>
          <a:prstGeom prst="rect">
            <a:avLst/>
          </a:prstGeom>
          <a:solidFill>
            <a:srgbClr val="F9A82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178808" y="182880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5E20"/>
                </a:solidFill>
              </a:rPr>
              <a:t>★ PATENT APPLIED ★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6032" y="4206240"/>
            <a:ext cx="182880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4632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Field / Hardware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90672" y="4206240"/>
            <a:ext cx="182880" cy="182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319272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Backend / API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25312" y="4206240"/>
            <a:ext cx="182880" cy="182880"/>
          </a:xfrm>
          <a:prstGeom prst="rect">
            <a:avLst/>
          </a:prstGeom>
          <a:solidFill>
            <a:srgbClr val="7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153912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Blockchain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759952" y="4206240"/>
            <a:ext cx="18288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988552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</a:rPr>
              <a:t>Consumer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3767</Words>
  <Application>Microsoft Macintosh PowerPoint</Application>
  <PresentationFormat>Custom</PresentationFormat>
  <Paragraphs>560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SAI PRANAV</cp:lastModifiedBy>
  <cp:revision>2</cp:revision>
  <dcterms:created xsi:type="dcterms:W3CDTF">2013-01-27T09:14:16Z</dcterms:created>
  <dcterms:modified xsi:type="dcterms:W3CDTF">2026-04-16T07:26:33Z</dcterms:modified>
  <cp:category/>
</cp:coreProperties>
</file>